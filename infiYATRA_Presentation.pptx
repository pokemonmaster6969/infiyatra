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3474720" cy="3474720"/>
          </a:xfrm>
          <a:prstGeom prst="ellipse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0D7377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14BDCC">
              <a:alpha val="30000"/>
            </a:srgbClr>
          </a:solidFill>
          <a:ln w="12700">
            <a:solidFill>
              <a:srgbClr val="14BDC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840480"/>
            <a:ext cx="2011680" cy="2011680"/>
          </a:xfrm>
          <a:prstGeom prst="ellipse">
            <a:avLst/>
          </a:prstGeom>
          <a:solidFill>
            <a:srgbClr val="FF6B35">
              <a:alpha val="20000"/>
            </a:srgbClr>
          </a:solidFill>
          <a:ln w="12700">
            <a:solidFill>
              <a:srgbClr val="FF6B35">
                <a:alpha val="2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54864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14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ENGINEERING  |  PROJECT PRESENTATION  |  2025-26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0972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</a:t>
            </a:r>
            <a:endParaRPr lang="en-US" sz="6200" dirty="0"/>
          </a:p>
        </p:txBody>
      </p:sp>
      <p:sp>
        <p:nvSpPr>
          <p:cNvPr id="9" name="Text 6"/>
          <p:cNvSpPr/>
          <p:nvPr/>
        </p:nvSpPr>
        <p:spPr>
          <a:xfrm>
            <a:off x="1664208" y="10972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YATRA</a:t>
            </a:r>
            <a:endParaRPr lang="en-US" sz="6200" dirty="0"/>
          </a:p>
        </p:txBody>
      </p:sp>
      <p:sp>
        <p:nvSpPr>
          <p:cNvPr id="10" name="Text 7"/>
          <p:cNvSpPr/>
          <p:nvPr/>
        </p:nvSpPr>
        <p:spPr>
          <a:xfrm>
            <a:off x="457200" y="2148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E2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Travel &amp; Tourism Platform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57200" y="2834640"/>
            <a:ext cx="320040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063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indent="0" marL="0">
              <a:buNone/>
            </a:pPr>
            <a:r>
              <a:rPr lang="en-US" sz="1300" dirty="0">
                <a:solidFill>
                  <a:srgbClr val="E2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 1]  |  [Student Name 2]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pPr indent="0" marL="0">
              <a:buNone/>
            </a:pPr>
            <a:r>
              <a:rPr lang="en-US" sz="1300" dirty="0">
                <a:solidFill>
                  <a:srgbClr val="E2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[Guide Name]  |  [Institute Name]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852160" y="393192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2D5F61">
              <a:alpha val="70000"/>
            </a:srgbClr>
          </a:solidFill>
          <a:ln w="12700">
            <a:solidFill>
              <a:srgbClr val="14BDCC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52160" y="39319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967728" y="393192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2D5F61">
              <a:alpha val="70000"/>
            </a:srgbClr>
          </a:solidFill>
          <a:ln w="12700">
            <a:solidFill>
              <a:srgbClr val="14BDCC">
                <a:alpha val="4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67728" y="39319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8083296" y="393192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2D5F61">
              <a:alpha val="70000"/>
            </a:srgbClr>
          </a:solidFill>
          <a:ln w="12700">
            <a:solidFill>
              <a:srgbClr val="14BDCC">
                <a:alpha val="4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83296" y="39319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852160" y="443484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2D5F61">
              <a:alpha val="70000"/>
            </a:srgbClr>
          </a:solidFill>
          <a:ln w="12700">
            <a:solidFill>
              <a:srgbClr val="14BDCC">
                <a:alpha val="4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0" y="4434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967728" y="443484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2D5F61">
              <a:alpha val="70000"/>
            </a:srgbClr>
          </a:solidFill>
          <a:ln w="12700">
            <a:solidFill>
              <a:srgbClr val="14BDCC">
                <a:alpha val="4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67728" y="4434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8083296" y="443484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2D5F61">
              <a:alpha val="70000"/>
            </a:srgbClr>
          </a:solidFill>
          <a:ln w="12700">
            <a:solidFill>
              <a:srgbClr val="14BDCC">
                <a:alpha val="4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83296" y="4434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5A5E"/>
          </a:solidFill>
          <a:ln w="12700">
            <a:solidFill>
              <a:srgbClr val="0A5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3716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96012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960120"/>
            <a:ext cx="402336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46304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Travel info scattered across multiple platforms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Cluttered, non-responsive travel websites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real-time updates or dynamic content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day-by-day itinerary breakdowns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Poor mobile experience for travelers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800600" y="96012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960120"/>
            <a:ext cx="402336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9204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37760" y="146304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Unified interface for trip discovery &amp; planning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Dynamic day-by-day itinerary system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Immersive 3D visual experience (Three.js)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Real-time admin content management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Mobile-first responsive design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3716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914400"/>
            <a:ext cx="2743200" cy="1554480"/>
          </a:xfrm>
          <a:prstGeom prst="rect">
            <a:avLst/>
          </a:prstGeom>
          <a:solidFill>
            <a:srgbClr val="1A3535"/>
          </a:solidFill>
          <a:ln w="12700">
            <a:solidFill>
              <a:srgbClr val="2D5F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914400"/>
            <a:ext cx="54864" cy="1554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84632" y="1234440"/>
            <a:ext cx="475488" cy="47548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271016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11704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069848" y="15727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EC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Vite-based frontend framework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200400" y="914400"/>
            <a:ext cx="2743200" cy="1554480"/>
          </a:xfrm>
          <a:prstGeom prst="rect">
            <a:avLst/>
          </a:prstGeom>
          <a:solidFill>
            <a:srgbClr val="1A3535"/>
          </a:solidFill>
          <a:ln w="12700">
            <a:solidFill>
              <a:srgbClr val="2D5F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00400" y="914400"/>
            <a:ext cx="54864" cy="1554480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364992" y="1234440"/>
            <a:ext cx="475488" cy="475488"/>
          </a:xfrm>
          <a:prstGeom prst="ellipse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1271016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50208" y="11704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5.6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950208" y="15727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EC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codebase throughout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080760" y="914400"/>
            <a:ext cx="2743200" cy="1554480"/>
          </a:xfrm>
          <a:prstGeom prst="rect">
            <a:avLst/>
          </a:prstGeom>
          <a:solidFill>
            <a:srgbClr val="1A3535"/>
          </a:solidFill>
          <a:ln w="12700">
            <a:solidFill>
              <a:srgbClr val="2D5F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080760" y="914400"/>
            <a:ext cx="54864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45352" y="1234440"/>
            <a:ext cx="47548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1271016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30568" y="11704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830568" y="15727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EC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responsive styling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20040" y="2633472"/>
            <a:ext cx="2743200" cy="1554480"/>
          </a:xfrm>
          <a:prstGeom prst="rect">
            <a:avLst/>
          </a:prstGeom>
          <a:solidFill>
            <a:srgbClr val="1A3535"/>
          </a:solidFill>
          <a:ln w="12700">
            <a:solidFill>
              <a:srgbClr val="2D5F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20040" y="2633472"/>
            <a:ext cx="54864" cy="1554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84632" y="2953512"/>
            <a:ext cx="475488" cy="47548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2990088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69848" y="288950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069848" y="3291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EC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page animations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200400" y="2633472"/>
            <a:ext cx="2743200" cy="1554480"/>
          </a:xfrm>
          <a:prstGeom prst="rect">
            <a:avLst/>
          </a:prstGeom>
          <a:solidFill>
            <a:srgbClr val="1A3535"/>
          </a:solidFill>
          <a:ln w="12700">
            <a:solidFill>
              <a:srgbClr val="2D5F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200400" y="2633472"/>
            <a:ext cx="54864" cy="1554480"/>
          </a:xfrm>
          <a:prstGeom prst="rect">
            <a:avLst/>
          </a:prstGeom>
          <a:solidFill>
            <a:srgbClr val="2D5F61"/>
          </a:solidFill>
          <a:ln w="12700">
            <a:solidFill>
              <a:srgbClr val="2D5F61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364992" y="2953512"/>
            <a:ext cx="475488" cy="475488"/>
          </a:xfrm>
          <a:prstGeom prst="ellipse">
            <a:avLst/>
          </a:prstGeom>
          <a:solidFill>
            <a:srgbClr val="2D5F61"/>
          </a:solidFill>
          <a:ln w="12700">
            <a:solidFill>
              <a:srgbClr val="2D5F61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1568" y="2990088"/>
            <a:ext cx="402336" cy="40233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950208" y="288950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/ R3F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3950208" y="3291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EC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GLB model rendering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080760" y="2633472"/>
            <a:ext cx="2743200" cy="1554480"/>
          </a:xfrm>
          <a:prstGeom prst="rect">
            <a:avLst/>
          </a:prstGeom>
          <a:solidFill>
            <a:srgbClr val="1A3535"/>
          </a:solidFill>
          <a:ln w="12700">
            <a:solidFill>
              <a:srgbClr val="2D5F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080760" y="2633472"/>
            <a:ext cx="54864" cy="1554480"/>
          </a:xfrm>
          <a:prstGeom prst="rect">
            <a:avLst/>
          </a:prstGeom>
          <a:solidFill>
            <a:srgbClr val="3D7A3D"/>
          </a:solidFill>
          <a:ln w="12700">
            <a:solidFill>
              <a:srgbClr val="3D7A3D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245352" y="2953512"/>
            <a:ext cx="475488" cy="475488"/>
          </a:xfrm>
          <a:prstGeom prst="ellipse">
            <a:avLst/>
          </a:prstGeom>
          <a:solidFill>
            <a:srgbClr val="3D7A3D"/>
          </a:solidFill>
          <a:ln w="12700">
            <a:solidFill>
              <a:srgbClr val="3D7A3D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28" y="2990088"/>
            <a:ext cx="402336" cy="40233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830568" y="288950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350" dirty="0"/>
          </a:p>
        </p:txBody>
      </p:sp>
      <p:sp>
        <p:nvSpPr>
          <p:cNvPr id="40" name="Text 31"/>
          <p:cNvSpPr/>
          <p:nvPr/>
        </p:nvSpPr>
        <p:spPr>
          <a:xfrm>
            <a:off x="6830568" y="3291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EC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backend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5A5E"/>
          </a:solidFill>
          <a:ln w="12700">
            <a:solidFill>
              <a:srgbClr val="0A5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3716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60120"/>
            <a:ext cx="26974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60120"/>
            <a:ext cx="269748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960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(React + Vite)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1508760"/>
            <a:ext cx="2514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Home / Discover / Trip Details / Admin pages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Components: Navbar, HeroSection, TripCard, LensModel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State: useState / useEffect  |  Routing: React Router DOM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Animations: Framer Motion  |  3D: React Three Fiber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37560" y="960120"/>
            <a:ext cx="26974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960120"/>
            <a:ext cx="269748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10712" y="960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(Node.js + Express)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429000" y="1508760"/>
            <a:ext cx="2514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RESTful API: /api/trips  /api/hero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CRUD endpoints: GET / POST / PUT / DELETE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CORS configured  |  JSON data store (db.json)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Vite proxy → Express (port 5173 → 3001)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0" y="960120"/>
            <a:ext cx="26974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960120"/>
            <a:ext cx="269748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73952" y="960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 (JSON Store)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92240" y="1508760"/>
            <a:ext cx="2514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db.json — Trip records with full itinerary arrays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Hero slides — Managed via Admin Dashboard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Designed for migration to PostgreSQL / MongoDB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Lightweight &amp; fast for development phase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971800" y="283464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6035040" y="283464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3716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960120"/>
            <a:ext cx="2743200" cy="1508760"/>
          </a:xfrm>
          <a:prstGeom prst="rect">
            <a:avLst/>
          </a:prstGeom>
          <a:solidFill>
            <a:srgbClr val="1A3535"/>
          </a:solidFill>
          <a:ln w="12700">
            <a:solidFill>
              <a:srgbClr val="2D5F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960120"/>
            <a:ext cx="27432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84632" y="1188720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225296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1612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Hero Section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29768" y="1618488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high-res destination slides with animated text overlays, fully managed via Admin Dashboard.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00400" y="960120"/>
            <a:ext cx="2743200" cy="1508760"/>
          </a:xfrm>
          <a:prstGeom prst="rect">
            <a:avLst/>
          </a:prstGeom>
          <a:solidFill>
            <a:srgbClr val="1A3535"/>
          </a:solidFill>
          <a:ln w="12700">
            <a:solidFill>
              <a:srgbClr val="2D5F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00400" y="960120"/>
            <a:ext cx="2743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364992" y="118872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122529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31920" y="11612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Trip Filter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310128" y="1618488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search + filter by destination, category tag, and price range on the Discover page.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080760" y="960120"/>
            <a:ext cx="2743200" cy="1508760"/>
          </a:xfrm>
          <a:prstGeom prst="rect">
            <a:avLst/>
          </a:prstGeom>
          <a:solidFill>
            <a:srgbClr val="1A3535"/>
          </a:solidFill>
          <a:ln w="12700">
            <a:solidFill>
              <a:srgbClr val="2D5F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080760" y="960120"/>
            <a:ext cx="274320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45352" y="1188720"/>
            <a:ext cx="457200" cy="45720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122529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12280" y="11612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Day-by-Day Itinerary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190488" y="1618488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timeline view showing daily activities, highlights, and accommodation for each trip.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20040" y="2651760"/>
            <a:ext cx="2743200" cy="1508760"/>
          </a:xfrm>
          <a:prstGeom prst="rect">
            <a:avLst/>
          </a:prstGeom>
          <a:solidFill>
            <a:srgbClr val="1A3535"/>
          </a:solidFill>
          <a:ln w="12700">
            <a:solidFill>
              <a:srgbClr val="2D5F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20040" y="2651760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84632" y="288036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2916936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285292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Immersive Landing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29768" y="3310128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GLB model rendered via React Three Fiber — a visual metaphor for discovery &amp; perspective.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200400" y="2651760"/>
            <a:ext cx="2743200" cy="1508760"/>
          </a:xfrm>
          <a:prstGeom prst="rect">
            <a:avLst/>
          </a:prstGeom>
          <a:solidFill>
            <a:srgbClr val="1A3535"/>
          </a:solidFill>
          <a:ln w="12700">
            <a:solidFill>
              <a:srgbClr val="2D5F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200400" y="2651760"/>
            <a:ext cx="27432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364992" y="2880360"/>
            <a:ext cx="457200" cy="4572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1568" y="2916936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931920" y="285292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3310128" y="3310128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CRUD interface for managing all trip records, hero slides, pricing, and descriptions.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080760" y="2651760"/>
            <a:ext cx="2743200" cy="1508760"/>
          </a:xfrm>
          <a:prstGeom prst="rect">
            <a:avLst/>
          </a:prstGeom>
          <a:solidFill>
            <a:srgbClr val="1A3535"/>
          </a:solidFill>
          <a:ln w="12700">
            <a:solidFill>
              <a:srgbClr val="2D5F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080760" y="2651760"/>
            <a:ext cx="274320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245352" y="2880360"/>
            <a:ext cx="457200" cy="4572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28" y="2916936"/>
            <a:ext cx="384048" cy="38404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812280" y="285292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Design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6190488" y="3310128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responsive grid, tested on iPhone 13, iPad Air, and all desktop breakpoints.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5A5E"/>
          </a:solidFill>
          <a:ln w="12700">
            <a:solidFill>
              <a:srgbClr val="0A5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USER FLOW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3716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0120" y="914400"/>
            <a:ext cx="658368" cy="6583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9144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331720" y="1243584"/>
            <a:ext cx="164592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73736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24128" y="1874520"/>
            <a:ext cx="530352" cy="530352"/>
          </a:xfrm>
          <a:prstGeom prst="ellipse">
            <a:avLst/>
          </a:prstGeom>
          <a:solidFill>
            <a:srgbClr val="0D7377">
              <a:alpha val="85000"/>
            </a:srgbClr>
          </a:solidFill>
          <a:ln w="12700">
            <a:solidFill>
              <a:srgbClr val="0D7377">
                <a:alpha val="85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901952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24871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on Home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02920" y="2944368"/>
            <a:ext cx="1645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sees the immersive hero section with rotating destination slides and the interactive 3D lens model.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090672" y="914400"/>
            <a:ext cx="658368" cy="6583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090672" y="9144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4462272" y="1243584"/>
            <a:ext cx="164592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496312" y="173736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154680" y="1874520"/>
            <a:ext cx="530352" cy="530352"/>
          </a:xfrm>
          <a:prstGeom prst="ellipse">
            <a:avLst/>
          </a:prstGeom>
          <a:solidFill>
            <a:srgbClr val="0D7377">
              <a:alpha val="85000"/>
            </a:srgbClr>
          </a:solidFill>
          <a:ln w="12700">
            <a:solidFill>
              <a:srgbClr val="0D7377">
                <a:alpha val="85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1901952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587752" y="24871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Trips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2633472" y="2944368"/>
            <a:ext cx="1645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applies filters (destination, category, price) on the Discover page to find their perfect trip.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221224" y="914400"/>
            <a:ext cx="658368" cy="6583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221224" y="9144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6592824" y="1243584"/>
            <a:ext cx="164592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626864" y="173736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285232" y="1874520"/>
            <a:ext cx="530352" cy="530352"/>
          </a:xfrm>
          <a:prstGeom prst="ellipse">
            <a:avLst/>
          </a:prstGeom>
          <a:solidFill>
            <a:srgbClr val="0D7377">
              <a:alpha val="85000"/>
            </a:srgbClr>
          </a:solidFill>
          <a:ln w="12700">
            <a:solidFill>
              <a:srgbClr val="0D7377">
                <a:alpha val="8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2664" y="1901952"/>
            <a:ext cx="475488" cy="4754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718304" y="24871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Details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4764024" y="2944368"/>
            <a:ext cx="1645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 trip card opens the Trip Details page — photo gallery, highlights, and full day-by-day itinerary.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7351776" y="914400"/>
            <a:ext cx="658368" cy="6583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351776" y="9144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Shape 25"/>
          <p:cNvSpPr/>
          <p:nvPr/>
        </p:nvSpPr>
        <p:spPr>
          <a:xfrm>
            <a:off x="6757416" y="173736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7415784" y="1874520"/>
            <a:ext cx="530352" cy="530352"/>
          </a:xfrm>
          <a:prstGeom prst="ellipse">
            <a:avLst/>
          </a:prstGeom>
          <a:solidFill>
            <a:srgbClr val="0D7377">
              <a:alpha val="85000"/>
            </a:srgbClr>
          </a:solidFill>
          <a:ln w="12700">
            <a:solidFill>
              <a:srgbClr val="0D7377">
                <a:alpha val="85000"/>
              </a:srgbClr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3216" y="1901952"/>
            <a:ext cx="475488" cy="47548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848856" y="24871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Manages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6894576" y="2944368"/>
            <a:ext cx="1645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logs in to the dashboard and can create, edit, or delete any trip record or hero slide in real time.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TRAVEL PACKAGES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3716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932688"/>
            <a:ext cx="8503920" cy="713232"/>
          </a:xfrm>
          <a:prstGeom prst="rect">
            <a:avLst/>
          </a:prstGeom>
          <a:solidFill>
            <a:srgbClr val="1A3535"/>
          </a:solidFill>
          <a:ln w="12700">
            <a:solidFill>
              <a:srgbClr val="2D5F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932688"/>
            <a:ext cx="73152" cy="7132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5488" y="102412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🏔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207008" y="10058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Spiti Valley Expedition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0" y="109728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0" y="1097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Days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589520" y="1097280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0" y="10972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" y="1737360"/>
            <a:ext cx="8503920" cy="713232"/>
          </a:xfrm>
          <a:prstGeom prst="rect">
            <a:avLst/>
          </a:prstGeom>
          <a:solidFill>
            <a:srgbClr val="1A3535"/>
          </a:solidFill>
          <a:ln w="12700">
            <a:solidFill>
              <a:srgbClr val="2D5F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1737360"/>
            <a:ext cx="73152" cy="7132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" y="18288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🛣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207008" y="18105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 Ladakh Expedition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583680" y="1901952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0" y="190195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589520" y="1901952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89520" y="190195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Trip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0040" y="2542032"/>
            <a:ext cx="8503920" cy="713232"/>
          </a:xfrm>
          <a:prstGeom prst="rect">
            <a:avLst/>
          </a:prstGeom>
          <a:solidFill>
            <a:srgbClr val="1A3535"/>
          </a:solidFill>
          <a:ln w="12700">
            <a:solidFill>
              <a:srgbClr val="2D5F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0040" y="2542032"/>
            <a:ext cx="73152" cy="7132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5488" y="26334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❄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207008" y="261518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Kashmir Winter Wonderland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583680" y="2706624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83680" y="270662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Days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589520" y="2706624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89520" y="270662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20040" y="3346704"/>
            <a:ext cx="8503920" cy="713232"/>
          </a:xfrm>
          <a:prstGeom prst="rect">
            <a:avLst/>
          </a:prstGeom>
          <a:solidFill>
            <a:srgbClr val="1A3535"/>
          </a:solidFill>
          <a:ln w="12700">
            <a:solidFill>
              <a:srgbClr val="2D5F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20040" y="3346704"/>
            <a:ext cx="73152" cy="7132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5488" y="343814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1207008" y="341985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Backpacking Meghalaya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583680" y="3511296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83680" y="351129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Days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589520" y="3511296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589520" y="351129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Backpacking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20040" y="4151376"/>
            <a:ext cx="8503920" cy="713232"/>
          </a:xfrm>
          <a:prstGeom prst="rect">
            <a:avLst/>
          </a:prstGeom>
          <a:solidFill>
            <a:srgbClr val="1A3535"/>
          </a:solidFill>
          <a:ln w="12700">
            <a:solidFill>
              <a:srgbClr val="2D5F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320040" y="4151376"/>
            <a:ext cx="73152" cy="7132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5488" y="4242816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🚢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1207008" y="422452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Kerala Backwaters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6583680" y="4315968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83680" y="43159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7589520" y="4315968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589520" y="431596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Serenity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5A5E"/>
          </a:solidFill>
          <a:ln w="12700">
            <a:solidFill>
              <a:srgbClr val="0A5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3716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91440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914400"/>
            <a:ext cx="2011680" cy="91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102412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320040" y="1609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1148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Passed ✓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14600" y="91440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14600" y="914400"/>
            <a:ext cx="2011680" cy="91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14600" y="102412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2514600" y="1609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60604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· Firefox · Safari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709160" y="91440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09160" y="914400"/>
            <a:ext cx="2011680" cy="914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09160" y="102412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8" name="Text 15"/>
          <p:cNvSpPr/>
          <p:nvPr/>
        </p:nvSpPr>
        <p:spPr>
          <a:xfrm>
            <a:off x="4709160" y="1609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Types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80060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Tablet · Desktop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903720" y="91440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03720" y="914400"/>
            <a:ext cx="2011680" cy="91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03720" y="102412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23" name="Text 20"/>
          <p:cNvSpPr/>
          <p:nvPr/>
        </p:nvSpPr>
        <p:spPr>
          <a:xfrm>
            <a:off x="6903720" y="1609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Tests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99516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via Postman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514600"/>
          <a:ext cx="8503920" cy="2468880"/>
        </p:xfrm>
        <a:graphic>
          <a:graphicData uri="http://schemas.openxmlformats.org/drawingml/2006/table">
            <a:tbl>
              <a:tblPr/>
              <a:tblGrid>
                <a:gridCol w="6400800"/>
                <a:gridCol w="2103120"/>
              </a:tblGrid>
              <a:tr h="3526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A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A5E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Hero section rotation &amp; animations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model loading without layout shift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trip filter (keyword + category + price)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CRUD — Create / Update / Delete trip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endpoints (/api/trips, /api/hero)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 layout across all breakpoints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1783080"/>
          </a:xfrm>
          <a:prstGeom prst="rect">
            <a:avLst/>
          </a:prstGeom>
          <a:solidFill>
            <a:srgbClr val="1A3535"/>
          </a:solidFill>
          <a:ln w="12700">
            <a:solidFill>
              <a:srgbClr val="2D5F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20624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3D Performance Optimization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408176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D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GLB model compressed via gltf-pipeline. React Suspense used for async loading. WebGL canvas performance settings tuned → smooth 60 fps.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4206240" cy="1783080"/>
          </a:xfrm>
          <a:prstGeom prst="rect">
            <a:avLst/>
          </a:prstGeom>
          <a:solidFill>
            <a:srgbClr val="1A3535"/>
          </a:solidFill>
          <a:ln w="12700">
            <a:solidFill>
              <a:srgbClr val="2D5F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914400"/>
            <a:ext cx="420624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05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Mobile Navigation Complexity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37760" y="1408176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D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breakpoint classes for responsive nav. Dedicated slide-in mobile menu component with nested category support.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880360"/>
            <a:ext cx="4206240" cy="1783080"/>
          </a:xfrm>
          <a:prstGeom prst="rect">
            <a:avLst/>
          </a:prstGeom>
          <a:solidFill>
            <a:srgbClr val="1A3535"/>
          </a:solidFill>
          <a:ln w="12700">
            <a:solidFill>
              <a:srgbClr val="2D5F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880360"/>
            <a:ext cx="42062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718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Admin Real-Time State Sync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3374136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D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UI updates — local React state updated immediately on successful API response, avoiding stale data on the public listing.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880360"/>
            <a:ext cx="4206240" cy="1783080"/>
          </a:xfrm>
          <a:prstGeom prst="rect">
            <a:avLst/>
          </a:prstGeom>
          <a:solidFill>
            <a:srgbClr val="1A3535"/>
          </a:solidFill>
          <a:ln w="12700">
            <a:solidFill>
              <a:srgbClr val="2D5F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880360"/>
            <a:ext cx="420624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9718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CORS &amp; Dev Environment Config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37760" y="3374136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D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cors middleware + Vite proxy in vite.config.ts forwarding /api to port 3001 → zero CORS errors in development.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5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457200"/>
            <a:ext cx="4572000" cy="4572000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"/>
            <a:ext cx="3200400" cy="3200400"/>
          </a:xfrm>
          <a:prstGeom prst="ellipse">
            <a:avLst/>
          </a:prstGeom>
          <a:solidFill>
            <a:srgbClr val="14BDCC">
              <a:alpha val="25000"/>
            </a:srgbClr>
          </a:solidFill>
          <a:ln w="12700">
            <a:solidFill>
              <a:srgbClr val="14BDCC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7432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74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8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infiYATRA successfully delivers a modern,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C8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 travel discovery platform using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C8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cutting-edge web technologies.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4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55264"/>
            <a:ext cx="274320" cy="2743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273552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1248" y="321868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 + Wishlist System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630168"/>
            <a:ext cx="274320" cy="2743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364845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41248" y="359359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MongoDB Migration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4005072"/>
            <a:ext cx="274320" cy="2743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02336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" y="396849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Trip Recommendations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4379976"/>
            <a:ext cx="274320" cy="2743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4398264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41248" y="434340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(Razorpay / Stripe)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57200" y="4754880"/>
            <a:ext cx="274320" cy="2743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4773168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41248" y="471830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Reviews &amp; Photo Galleries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457200"/>
            <a:ext cx="3657600" cy="3657600"/>
          </a:xfrm>
          <a:prstGeom prst="ellipse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0D7377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371600"/>
            <a:ext cx="2743200" cy="2743200"/>
          </a:xfrm>
          <a:prstGeom prst="ellipse">
            <a:avLst/>
          </a:prstGeom>
          <a:solidFill>
            <a:srgbClr val="FF6B35">
              <a:alpha val="15000"/>
            </a:srgbClr>
          </a:solidFill>
          <a:ln w="12700">
            <a:solidFill>
              <a:srgbClr val="FF6B35">
                <a:alpha val="1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5486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2801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infiYATRA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914400" y="22402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6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200400" y="2971800"/>
            <a:ext cx="2743200" cy="45720"/>
          </a:xfrm>
          <a:prstGeom prst="rect">
            <a:avLst/>
          </a:prstGeom>
          <a:solidFill>
            <a:srgbClr val="14BDCC"/>
          </a:solidFill>
          <a:ln w="12700">
            <a:solidFill>
              <a:srgbClr val="14BD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154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EC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38404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 1]  •  [Student Name 2]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[Guide Name]  •  [Institute Name]  •  2025-26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4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github.com/pokemonmaster6969/infiYATRA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infiYATRA – Modern Travel &amp; Tourism Platform</dc:title>
  <dc:subject>PptxGenJS Presentation</dc:subject>
  <dc:creator>infiYATRA Team</dc:creator>
  <cp:lastModifiedBy>infiYATRA Team</cp:lastModifiedBy>
  <cp:revision>1</cp:revision>
  <dcterms:created xsi:type="dcterms:W3CDTF">2026-05-13T12:10:44Z</dcterms:created>
  <dcterms:modified xsi:type="dcterms:W3CDTF">2026-05-13T12:10:44Z</dcterms:modified>
</cp:coreProperties>
</file>